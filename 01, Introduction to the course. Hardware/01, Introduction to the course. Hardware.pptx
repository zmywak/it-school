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5"/>
  </p:notesMasterIdLst>
  <p:sldIdLst>
    <p:sldId id="278" r:id="rId2"/>
    <p:sldId id="279" r:id="rId3"/>
    <p:sldId id="281" r:id="rId4"/>
    <p:sldId id="280" r:id="rId5"/>
    <p:sldId id="294" r:id="rId6"/>
    <p:sldId id="295" r:id="rId7"/>
    <p:sldId id="282" r:id="rId8"/>
    <p:sldId id="287" r:id="rId9"/>
    <p:sldId id="296" r:id="rId10"/>
    <p:sldId id="292" r:id="rId11"/>
    <p:sldId id="288" r:id="rId12"/>
    <p:sldId id="290" r:id="rId13"/>
    <p:sldId id="293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09" autoAdjust="0"/>
  </p:normalViewPr>
  <p:slideViewPr>
    <p:cSldViewPr snapToGrid="0" snapToObjects="1">
      <p:cViewPr varScale="1">
        <p:scale>
          <a:sx n="119" d="100"/>
          <a:sy n="119" d="100"/>
        </p:scale>
        <p:origin x="56" y="304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id="{BA5D5A72-CB6F-F8DE-E2C9-90459C8C3DC1}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anchor="t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224528" y="2276856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224528" y="3222752"/>
            <a:ext cx="6766560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352B04-96E6-839B-9D92-EE98385C4D49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23D98FB-5EB7-A8DF-8470-B23A80D669E4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550F3CE-BAE9-3916-42CA-F4D906FA5173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83F65A0-0C52-48AD-DC5D-B5D3BF3CC188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FA7F58-C470-6376-9DB1-DE7034C491E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27C9E57-563E-7980-7B3C-45FAD9C386F4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 descr="preencoded.png">
            <a:extLst>
              <a:ext uri="{FF2B5EF4-FFF2-40B4-BE49-F238E27FC236}">
                <a16:creationId xmlns:a16="http://schemas.microsoft.com/office/drawing/2014/main" id="{FEB515B5-2D9F-58E1-6E3C-CCBF105D891E}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CCFEDF9-5B69-87BA-8A33-35033DA401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anchor="ctr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>
            <a:no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lukaszzmywaczyk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itschool.sis@gmail.com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60D9-9D47-C0BB-B2B4-4B6F2B36CF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IT SCHOOL</a:t>
            </a:r>
            <a:br>
              <a:rPr lang="en-US" dirty="0"/>
            </a:br>
            <a:r>
              <a:rPr lang="pl-PL" dirty="0"/>
              <a:t>@ 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1060B-300F-3CE3-E5AA-D8E29791C9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Łukasz Zmywaczyk</a:t>
            </a:r>
            <a:r>
              <a:rPr lang="en-US" dirty="0"/>
              <a:t>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65E9-D88A-55D3-9D42-BD1C24B6D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accent6"/>
                </a:solidFill>
                <a:latin typeface="Arial Black" panose="020B0604020202020204" pitchFamily="34" charset="0"/>
                <a:ea typeface="Arial Regular" pitchFamily="34" charset="-122"/>
                <a:cs typeface="Arial Black" panose="020B0604020202020204" pitchFamily="34" charset="0"/>
              </a:rPr>
              <a:t>AGENDA</a:t>
            </a:r>
            <a:endParaRPr lang="en-US" sz="4400" b="1" dirty="0">
              <a:solidFill>
                <a:schemeClr val="accent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66E5-D2D7-172B-46BA-FEBFE092C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Personal </a:t>
            </a:r>
            <a:r>
              <a:rPr lang="en-US" dirty="0"/>
              <a:t>Introduction​</a:t>
            </a:r>
          </a:p>
          <a:p>
            <a:r>
              <a:rPr lang="pl-PL" dirty="0"/>
              <a:t>Course Introduction</a:t>
            </a:r>
            <a:endParaRPr lang="en-US" dirty="0"/>
          </a:p>
          <a:p>
            <a:r>
              <a:rPr lang="en-US" dirty="0"/>
              <a:t>​</a:t>
            </a:r>
            <a:r>
              <a:rPr lang="pl-PL" dirty="0"/>
              <a:t>Hardware</a:t>
            </a:r>
            <a:endParaRPr lang="en-US" dirty="0"/>
          </a:p>
          <a:p>
            <a:r>
              <a:rPr lang="pl-PL" dirty="0"/>
              <a:t>  Raspberry PI</a:t>
            </a:r>
            <a:endParaRPr lang="en-US" dirty="0"/>
          </a:p>
          <a:p>
            <a:r>
              <a:rPr lang="en-US" dirty="0"/>
              <a:t>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531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400" b="1" dirty="0">
                <a:solidFill>
                  <a:schemeClr val="accent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INTRODUCTIONS</a:t>
            </a:r>
            <a:endParaRPr lang="en-US" sz="4400" b="1" dirty="0">
              <a:solidFill>
                <a:schemeClr val="accent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96B766-7610-8817-7A2B-F937C9254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0BC6-9DA0-FB4D-8879-DC8B3958C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3200" dirty="0"/>
              <a:t>PERSONAL </a:t>
            </a:r>
            <a:r>
              <a:rPr lang="en-US" sz="32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8C4B-3A3C-9FD1-59FB-1666C1F09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Hello,</a:t>
            </a:r>
            <a:endParaRPr lang="pl-PL" dirty="0"/>
          </a:p>
          <a:p>
            <a:endParaRPr lang="en-US" dirty="0"/>
          </a:p>
          <a:p>
            <a:r>
              <a:rPr lang="en-US" dirty="0"/>
              <a:t>My name is Łukasz Zmywaczyk, and I have dedicated the past 20 years of my life to IT and Software Development. As we are currently witnessing the dawn of the AI revolution, I believe it is crucial for the younger generation to be well-prepared and adaptable to the upcoming changes in our world. To achieve this, I am passionate about sharing my knowledge and experience through my IT School course.</a:t>
            </a:r>
          </a:p>
          <a:p>
            <a:r>
              <a:rPr lang="en-US" dirty="0"/>
              <a:t>If you are interested in learning more about my experience, please feel free to connect with me on </a:t>
            </a:r>
            <a:r>
              <a:rPr lang="en-US" dirty="0">
                <a:hlinkClick r:id="rId2"/>
              </a:rPr>
              <a:t>LinkedIn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62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0BC6-9DA0-FB4D-8879-DC8B3958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528" y="1057656"/>
            <a:ext cx="6766560" cy="768096"/>
          </a:xfrm>
        </p:spPr>
        <p:txBody>
          <a:bodyPr/>
          <a:lstStyle/>
          <a:p>
            <a:r>
              <a:rPr lang="pl-PL" sz="3200" dirty="0"/>
              <a:t>COURSE </a:t>
            </a:r>
            <a:r>
              <a:rPr lang="en-US" sz="32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8C4B-3A3C-9FD1-59FB-1666C1F09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4527" y="1825752"/>
            <a:ext cx="3625409" cy="3660273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l-PL" sz="1400" dirty="0"/>
              <a:t>Introduction to the course, Hardware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l-PL" sz="1400" dirty="0"/>
              <a:t>Robotics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l-PL" sz="1400" dirty="0"/>
              <a:t>Blockchain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l-PL" sz="1400" dirty="0"/>
              <a:t>Graphics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l-PL" sz="1400" dirty="0"/>
              <a:t>Text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l-PL" sz="1400" dirty="0"/>
              <a:t>AI, ML, Neural Networks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l-PL" sz="1400" dirty="0"/>
              <a:t>Security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l-PL" sz="1400" dirty="0"/>
              <a:t>Server Side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l-PL" sz="1400" dirty="0"/>
              <a:t>Client Side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l-PL" sz="1400" dirty="0"/>
              <a:t>API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F434055-6D77-2F16-FD07-848CF1563537}"/>
              </a:ext>
            </a:extLst>
          </p:cNvPr>
          <p:cNvSpPr txBox="1">
            <a:spLocks/>
          </p:cNvSpPr>
          <p:nvPr/>
        </p:nvSpPr>
        <p:spPr>
          <a:xfrm>
            <a:off x="8782465" y="1825752"/>
            <a:ext cx="3200400" cy="4575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pl-PL" sz="1400" dirty="0"/>
              <a:t>Message Queues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pl-PL" sz="1400" dirty="0"/>
              <a:t>Cloud (AWS)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pl-PL" sz="1400" dirty="0"/>
              <a:t>MidJourney, ChatGPT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pl-PL" sz="1400" dirty="0"/>
              <a:t>Algorithmics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pl-PL" sz="1400" dirty="0"/>
              <a:t>Data Structures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pl-PL" sz="1400" dirty="0"/>
              <a:t>Databases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pl-PL" sz="1400" dirty="0"/>
              <a:t>HTML 5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pl-PL" sz="1400" dirty="0"/>
              <a:t>Internet, DNS, LAN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pl-PL" sz="1400" dirty="0"/>
              <a:t>Virtual Machines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pl-PL" sz="1400" dirty="0"/>
              <a:t>Linux</a:t>
            </a:r>
            <a:endParaRPr lang="en-US" sz="1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E30D433-4DA8-8BAF-EFDC-36C1AECE6286}"/>
              </a:ext>
            </a:extLst>
          </p:cNvPr>
          <p:cNvSpPr txBox="1">
            <a:spLocks/>
          </p:cNvSpPr>
          <p:nvPr/>
        </p:nvSpPr>
        <p:spPr>
          <a:xfrm>
            <a:off x="4224528" y="5935712"/>
            <a:ext cx="8408630" cy="523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800" b="1" dirty="0">
                <a:hlinkClick r:id="rId2"/>
              </a:rPr>
              <a:t>itschool.sis@gmail.com</a:t>
            </a:r>
            <a:r>
              <a:rPr lang="pl-PL" sz="1800" dirty="0"/>
              <a:t>                                      </a:t>
            </a:r>
            <a:r>
              <a:rPr lang="pl-PL" sz="1800" b="1" dirty="0"/>
              <a:t>+48-724-010-030</a:t>
            </a:r>
          </a:p>
          <a:p>
            <a:r>
              <a:rPr lang="pl-PL" sz="1800"/>
              <a:t>git@github.com:zmywak/it-school.git                 </a:t>
            </a:r>
            <a:r>
              <a:rPr lang="pl-PL" sz="1800" dirty="0"/>
              <a:t>Łukasz Zmywaczyk </a:t>
            </a:r>
          </a:p>
        </p:txBody>
      </p:sp>
    </p:spTree>
    <p:extLst>
      <p:ext uri="{BB962C8B-B14F-4D97-AF65-F5344CB8AC3E}">
        <p14:creationId xmlns:p14="http://schemas.microsoft.com/office/powerpoint/2010/main" val="3575047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400" b="1" dirty="0">
                <a:solidFill>
                  <a:schemeClr val="accent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hardware</a:t>
            </a:r>
            <a:endParaRPr lang="en-US" sz="4400" b="1" dirty="0">
              <a:solidFill>
                <a:schemeClr val="accent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96B766-7610-8817-7A2B-F937C9254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49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Anything that can go wrong with hardware will—at the worst possible moment.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016EE4-D06F-BB48-F27D-14F290F0FE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“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BD890-6A99-C160-C084-2916E23107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19" y="4308475"/>
            <a:ext cx="4851133" cy="588963"/>
          </a:xfrm>
        </p:spPr>
        <p:txBody>
          <a:bodyPr/>
          <a:lstStyle/>
          <a:p>
            <a:r>
              <a:rPr lang="pl-PL" dirty="0"/>
              <a:t>hardware version of Murphy’s Law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E736C0-59DE-A4DF-7A05-6F22D48CC0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182631" y="2936829"/>
            <a:ext cx="768096" cy="1627632"/>
          </a:xfrm>
        </p:spPr>
        <p:txBody>
          <a:bodyPr/>
          <a:lstStyle/>
          <a:p>
            <a:r>
              <a:rPr lang="en-US" dirty="0"/>
              <a:t>”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C09F16-6D23-666F-6800-8FC697831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WHAT IS WHAT</a:t>
            </a:r>
            <a:endParaRPr lang="en-US" dirty="0"/>
          </a:p>
        </p:txBody>
      </p:sp>
      <p:pic>
        <p:nvPicPr>
          <p:cNvPr id="127" name="Picture Placeholder 126" descr="Laptop with phone and calculator">
            <a:extLst>
              <a:ext uri="{FF2B5EF4-FFF2-40B4-BE49-F238E27FC236}">
                <a16:creationId xmlns:a16="http://schemas.microsoft.com/office/drawing/2014/main" id="{647C05DC-04F0-1158-3AA5-BF470126B98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955" b="4955"/>
          <a:stretch/>
        </p:blipFill>
        <p:spPr/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AF69D5-AD7B-521D-22B1-50D8A24356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l-PL" dirty="0"/>
              <a:t>CPU</a:t>
            </a:r>
            <a:endParaRPr lang="en-US" dirty="0"/>
          </a:p>
        </p:txBody>
      </p:sp>
      <p:pic>
        <p:nvPicPr>
          <p:cNvPr id="135" name="Picture Placeholder 134" descr="Laptop with phone and calculator">
            <a:extLst>
              <a:ext uri="{FF2B5EF4-FFF2-40B4-BE49-F238E27FC236}">
                <a16:creationId xmlns:a16="http://schemas.microsoft.com/office/drawing/2014/main" id="{53CE1A7F-C303-6378-F7D9-285999C320CB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5" b="4955"/>
          <a:stretch/>
        </p:blipFill>
        <p:spPr/>
      </p:pic>
      <p:sp>
        <p:nvSpPr>
          <p:cNvPr id="159" name="Text Placeholder 158">
            <a:extLst>
              <a:ext uri="{FF2B5EF4-FFF2-40B4-BE49-F238E27FC236}">
                <a16:creationId xmlns:a16="http://schemas.microsoft.com/office/drawing/2014/main" id="{F269F917-64D7-CDF3-D985-799AE9C3B79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pl-PL" dirty="0"/>
              <a:t>RAM</a:t>
            </a:r>
            <a:endParaRPr lang="en-US" dirty="0"/>
          </a:p>
        </p:txBody>
      </p:sp>
      <p:pic>
        <p:nvPicPr>
          <p:cNvPr id="129" name="Picture Placeholder 128" descr="Laptop with phone and calculator">
            <a:extLst>
              <a:ext uri="{FF2B5EF4-FFF2-40B4-BE49-F238E27FC236}">
                <a16:creationId xmlns:a16="http://schemas.microsoft.com/office/drawing/2014/main" id="{8B3998AA-37D7-2B8A-664B-5EE24039828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955" b="4955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F6A845-F328-1053-A365-3DA9CBAF9B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l-PL" dirty="0"/>
              <a:t>GPU</a:t>
            </a:r>
            <a:endParaRPr lang="en-US" dirty="0"/>
          </a:p>
        </p:txBody>
      </p:sp>
      <p:pic>
        <p:nvPicPr>
          <p:cNvPr id="137" name="Picture Placeholder 136" descr="Laptop with phone and calculator">
            <a:extLst>
              <a:ext uri="{FF2B5EF4-FFF2-40B4-BE49-F238E27FC236}">
                <a16:creationId xmlns:a16="http://schemas.microsoft.com/office/drawing/2014/main" id="{5C2754CD-7055-FC29-FE1C-82327C464143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5" b="4955"/>
          <a:stretch/>
        </p:blipFill>
        <p:spPr/>
      </p:pic>
      <p:sp>
        <p:nvSpPr>
          <p:cNvPr id="186" name="Text Placeholder 185">
            <a:extLst>
              <a:ext uri="{FF2B5EF4-FFF2-40B4-BE49-F238E27FC236}">
                <a16:creationId xmlns:a16="http://schemas.microsoft.com/office/drawing/2014/main" id="{18835196-357D-8C96-24B5-B52A2DDEB00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pl-PL" dirty="0"/>
              <a:t>HDD</a:t>
            </a:r>
            <a:endParaRPr lang="en-US" dirty="0"/>
          </a:p>
        </p:txBody>
      </p:sp>
      <p:pic>
        <p:nvPicPr>
          <p:cNvPr id="131" name="Picture Placeholder 130" descr="Laptop with phone and calculator">
            <a:extLst>
              <a:ext uri="{FF2B5EF4-FFF2-40B4-BE49-F238E27FC236}">
                <a16:creationId xmlns:a16="http://schemas.microsoft.com/office/drawing/2014/main" id="{2269A4E3-AE66-274F-54C8-9DD8DBA3B151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955" b="4955"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A413FDF-11CF-6B9B-871F-ED1ED06E76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l-PL" dirty="0"/>
              <a:t>MOTHERBOARD</a:t>
            </a:r>
            <a:endParaRPr lang="en-US" dirty="0"/>
          </a:p>
        </p:txBody>
      </p:sp>
      <p:pic>
        <p:nvPicPr>
          <p:cNvPr id="139" name="Picture Placeholder 138" descr="Laptop with phone and calculator">
            <a:extLst>
              <a:ext uri="{FF2B5EF4-FFF2-40B4-BE49-F238E27FC236}">
                <a16:creationId xmlns:a16="http://schemas.microsoft.com/office/drawing/2014/main" id="{9A9F1D08-2372-A757-BE1E-91723DB0EBBF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5" b="4955"/>
          <a:stretch/>
        </p:blipFill>
        <p:spPr/>
      </p:pic>
      <p:sp>
        <p:nvSpPr>
          <p:cNvPr id="188" name="Text Placeholder 187">
            <a:extLst>
              <a:ext uri="{FF2B5EF4-FFF2-40B4-BE49-F238E27FC236}">
                <a16:creationId xmlns:a16="http://schemas.microsoft.com/office/drawing/2014/main" id="{D362CDA4-D5CF-59E2-690B-FD99A9F4A51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pl-PL" dirty="0"/>
              <a:t>PSU</a:t>
            </a:r>
            <a:endParaRPr lang="en-US" dirty="0"/>
          </a:p>
        </p:txBody>
      </p:sp>
      <p:pic>
        <p:nvPicPr>
          <p:cNvPr id="133" name="Picture Placeholder 132" descr="Laptop with phone and calculator">
            <a:extLst>
              <a:ext uri="{FF2B5EF4-FFF2-40B4-BE49-F238E27FC236}">
                <a16:creationId xmlns:a16="http://schemas.microsoft.com/office/drawing/2014/main" id="{65B0483B-CE9B-CD44-979E-DBD8145B7D30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955" b="4955"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18301B7-15C5-E184-096F-BF82F42163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pl-PL" dirty="0"/>
              <a:t>RASPBERRY PI 4</a:t>
            </a:r>
            <a:endParaRPr lang="en-US" dirty="0"/>
          </a:p>
        </p:txBody>
      </p:sp>
      <p:pic>
        <p:nvPicPr>
          <p:cNvPr id="141" name="Picture Placeholder 140" descr="Laptop with phone and calculator">
            <a:extLst>
              <a:ext uri="{FF2B5EF4-FFF2-40B4-BE49-F238E27FC236}">
                <a16:creationId xmlns:a16="http://schemas.microsoft.com/office/drawing/2014/main" id="{9714A55E-3681-98F0-A943-50EE7A07869C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5" b="4955"/>
          <a:stretch/>
        </p:blipFill>
        <p:spPr/>
      </p:pic>
      <p:sp>
        <p:nvSpPr>
          <p:cNvPr id="190" name="Text Placeholder 189">
            <a:extLst>
              <a:ext uri="{FF2B5EF4-FFF2-40B4-BE49-F238E27FC236}">
                <a16:creationId xmlns:a16="http://schemas.microsoft.com/office/drawing/2014/main" id="{6FA69800-878A-E997-C835-4A34703F239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pl-PL" dirty="0"/>
              <a:t>NIC</a:t>
            </a:r>
            <a:endParaRPr lang="en-US" dirty="0"/>
          </a:p>
        </p:txBody>
      </p:sp>
      <p:sp>
        <p:nvSpPr>
          <p:cNvPr id="218" name="Slide Number Placeholder 217">
            <a:extLst>
              <a:ext uri="{FF2B5EF4-FFF2-40B4-BE49-F238E27FC236}">
                <a16:creationId xmlns:a16="http://schemas.microsoft.com/office/drawing/2014/main" id="{C29F391A-4647-2731-26B5-3B262D873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F3A3C00-8A4D-5C37-4F62-11E170DEA2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8AE554E-276C-B0DF-8CD7-532F9906DF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0B7DC87-FE7E-C737-5B11-D5DEBE4089A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9BF3D5-37BD-70CA-8D35-3714B2CFD9F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442C3B0-8D12-334B-E4F1-257BAB282A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EF61FBA-A3A4-03BB-9FFA-504983A3B0D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785B45C6-770F-177E-79FE-2797DDACA28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C1AC4EFE-9ECD-DAFE-B6B3-48B1347E577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69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400" b="1" dirty="0">
                <a:solidFill>
                  <a:schemeClr val="accent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Raspberry pi</a:t>
            </a:r>
            <a:endParaRPr lang="en-US" sz="4400" b="1" dirty="0">
              <a:solidFill>
                <a:schemeClr val="accent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96B766-7610-8817-7A2B-F937C9254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raspberry logo with green leaves&#10;&#10;Description automatically generated">
            <a:extLst>
              <a:ext uri="{FF2B5EF4-FFF2-40B4-BE49-F238E27FC236}">
                <a16:creationId xmlns:a16="http://schemas.microsoft.com/office/drawing/2014/main" id="{85B1E102-57C7-2D59-9081-225DE5416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747" y="-437645"/>
            <a:ext cx="4625473" cy="308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973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7D2E-080D-DBDD-73C4-3C38A2B7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59" y="1883664"/>
            <a:ext cx="7239535" cy="768096"/>
          </a:xfrm>
        </p:spPr>
        <p:txBody>
          <a:bodyPr/>
          <a:lstStyle/>
          <a:p>
            <a:r>
              <a:rPr lang="pl-PL" sz="3200" dirty="0"/>
              <a:t>Powerfull mini computer</a:t>
            </a:r>
            <a:r>
              <a:rPr lang="en-US" sz="3200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F20BE-640F-EFAB-3A43-2AA146DB4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8FDE3-DBA4-6A04-C75D-E56FE92EF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8760" y="2837687"/>
            <a:ext cx="5879592" cy="2846565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Quad-core ARM Cortex-A72 processor</a:t>
            </a:r>
            <a:endParaRPr lang="pl-PL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GPU for graphics acceleration</a:t>
            </a:r>
            <a:endParaRPr lang="pl-PL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RAM options (e.g., </a:t>
            </a:r>
            <a:r>
              <a:rPr lang="pl-PL" dirty="0"/>
              <a:t>1GB, </a:t>
            </a:r>
            <a:r>
              <a:rPr lang="en-US" dirty="0"/>
              <a:t>2GB, 4GB, 8GB)</a:t>
            </a:r>
            <a:endParaRPr lang="pl-PL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USB ports, Ethernet, HDMI, and other connectivity options</a:t>
            </a:r>
            <a:endParaRPr lang="pl-PL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MicroSD card slot for storage</a:t>
            </a:r>
            <a:endParaRPr lang="pl-PL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GPIO (General Purpose Input/Output) pins for hardware interfacing</a:t>
            </a:r>
          </a:p>
        </p:txBody>
      </p:sp>
      <p:pic>
        <p:nvPicPr>
          <p:cNvPr id="7" name="Picture 6" descr="A close-up of a computer chip&#10;&#10;Description automatically generated">
            <a:extLst>
              <a:ext uri="{FF2B5EF4-FFF2-40B4-BE49-F238E27FC236}">
                <a16:creationId xmlns:a16="http://schemas.microsoft.com/office/drawing/2014/main" id="{26078988-4A8C-2790-8E07-4531B5F59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647" y="2467673"/>
            <a:ext cx="5438775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18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0A5BFC-C134-C072-C14D-9E51A94C8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Example projects</a:t>
            </a:r>
            <a:endParaRPr lang="en-US" dirty="0"/>
          </a:p>
        </p:txBody>
      </p:sp>
      <p:sp>
        <p:nvSpPr>
          <p:cNvPr id="374" name="Slide Number Placeholder 373">
            <a:extLst>
              <a:ext uri="{FF2B5EF4-FFF2-40B4-BE49-F238E27FC236}">
                <a16:creationId xmlns:a16="http://schemas.microsoft.com/office/drawing/2014/main" id="{049B2870-98EC-2977-8CE4-A7AA30099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70C77AB-7E91-84A6-3E62-DAB80E1E4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l-PL" dirty="0"/>
              <a:t>SENSORS</a:t>
            </a:r>
            <a:endParaRPr lang="en-US" dirty="0"/>
          </a:p>
        </p:txBody>
      </p:sp>
      <p:pic>
        <p:nvPicPr>
          <p:cNvPr id="292" name="Picture Placeholder 291" descr="checklist icon">
            <a:extLst>
              <a:ext uri="{FF2B5EF4-FFF2-40B4-BE49-F238E27FC236}">
                <a16:creationId xmlns:a16="http://schemas.microsoft.com/office/drawing/2014/main" id="{8167DB44-EDED-0971-E35D-A5FA1E47C215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2"/>
          <a:srcRect/>
          <a:stretch/>
        </p:blipFill>
        <p:spPr/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3BF8E55-B2B9-104D-F277-0890253473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pl-PL" dirty="0"/>
              <a:t>Weather Station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5DD9AC8-4A5F-70DB-AA68-C461059D81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l-PL" dirty="0"/>
              <a:t>SMART HOME</a:t>
            </a:r>
            <a:endParaRPr lang="en-US" dirty="0"/>
          </a:p>
          <a:p>
            <a:endParaRPr lang="en-US" dirty="0"/>
          </a:p>
        </p:txBody>
      </p:sp>
      <p:pic>
        <p:nvPicPr>
          <p:cNvPr id="290" name="Picture Placeholder 289" descr="person with loud speaker icon">
            <a:extLst>
              <a:ext uri="{FF2B5EF4-FFF2-40B4-BE49-F238E27FC236}">
                <a16:creationId xmlns:a16="http://schemas.microsoft.com/office/drawing/2014/main" id="{E63515FB-9439-CCAE-C220-6F0E5ECB75E8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3"/>
          <a:srcRect t="113" b="113"/>
          <a:stretch/>
        </p:blipFill>
        <p:spPr/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CE9DA14-62AB-A857-6387-1F5D330B3F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lvl="0"/>
            <a:r>
              <a:rPr lang="pl-PL" dirty="0"/>
              <a:t>A smart home security system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28A203B-0CF0-2AB0-5F54-07C8E30039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l-PL" dirty="0"/>
              <a:t>JASPER</a:t>
            </a:r>
            <a:endParaRPr lang="en-US" dirty="0"/>
          </a:p>
          <a:p>
            <a:endParaRPr lang="en-US" dirty="0"/>
          </a:p>
        </p:txBody>
      </p:sp>
      <p:pic>
        <p:nvPicPr>
          <p:cNvPr id="288" name="Picture Placeholder 287" descr="blueprint icon">
            <a:extLst>
              <a:ext uri="{FF2B5EF4-FFF2-40B4-BE49-F238E27FC236}">
                <a16:creationId xmlns:a16="http://schemas.microsoft.com/office/drawing/2014/main" id="{A5707D4A-497A-679A-3ACA-721E8D0E2699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 rotWithShape="1">
          <a:blip r:embed="rId4"/>
          <a:srcRect t="431" b="431"/>
          <a:stretch/>
        </p:blipFill>
        <p:spPr/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10CB940-D45B-59F1-06E5-9CC94100EF0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lvl="0"/>
            <a:r>
              <a:rPr lang="pl-PL" dirty="0"/>
              <a:t>Voice assistant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5BC0115-F702-2E0A-61A4-4A6CE33FD7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l-PL" dirty="0"/>
              <a:t>RETRO GAMES</a:t>
            </a:r>
            <a:endParaRPr lang="en-US" dirty="0"/>
          </a:p>
          <a:p>
            <a:endParaRPr lang="en-US" dirty="0"/>
          </a:p>
        </p:txBody>
      </p:sp>
      <p:pic>
        <p:nvPicPr>
          <p:cNvPr id="270" name="Picture Placeholder 269" descr="target icon">
            <a:extLst>
              <a:ext uri="{FF2B5EF4-FFF2-40B4-BE49-F238E27FC236}">
                <a16:creationId xmlns:a16="http://schemas.microsoft.com/office/drawing/2014/main" id="{DE7A4D25-3CA5-F92A-988A-F913C367D593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 rotWithShape="1">
          <a:blip r:embed="rId5"/>
          <a:srcRect t="113" b="113"/>
          <a:stretch/>
        </p:blipFill>
        <p:spPr/>
      </p:pic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0DA38E3-68A2-4FF9-022B-BA0DF832B1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lvl="0"/>
            <a:r>
              <a:rPr lang="pl-PL" dirty="0"/>
              <a:t>Retro gaming console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D48D07F-2D5B-F0D5-4005-197607C4F1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l-PL" dirty="0"/>
              <a:t>MEDIA</a:t>
            </a:r>
            <a:endParaRPr lang="en-US" dirty="0"/>
          </a:p>
          <a:p>
            <a:endParaRPr lang="en-US" dirty="0"/>
          </a:p>
        </p:txBody>
      </p:sp>
      <p:pic>
        <p:nvPicPr>
          <p:cNvPr id="268" name="Picture Placeholder 267" descr="rocket icon">
            <a:extLst>
              <a:ext uri="{FF2B5EF4-FFF2-40B4-BE49-F238E27FC236}">
                <a16:creationId xmlns:a16="http://schemas.microsoft.com/office/drawing/2014/main" id="{1A522F41-60C1-3803-6132-18E154C0E328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6"/>
          <a:srcRect t="543" b="543"/>
          <a:stretch/>
        </p:blipFill>
        <p:spPr/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B72BD1AE-7290-BA6E-18FB-8181C0D13E7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lvl="0"/>
            <a:r>
              <a:rPr lang="pl-PL" dirty="0"/>
              <a:t>Media center for streaming videos and music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494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309B0-6209-D3D0-9D5E-308B9F6E7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WEATHER STATION</a:t>
            </a:r>
            <a:br>
              <a:rPr lang="en-US" dirty="0"/>
            </a:br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5058AE03-D409-0714-CCED-4548A9C92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12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D1D0BF9-FCAA-67DA-79AB-E6E7E6D2B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97216" y="2384712"/>
            <a:ext cx="3741928" cy="3684588"/>
          </a:xfrm>
        </p:spPr>
        <p:txBody>
          <a:bodyPr/>
          <a:lstStyle/>
          <a:p>
            <a:r>
              <a:rPr lang="en-US" sz="1800" dirty="0"/>
              <a:t>Sensors: </a:t>
            </a:r>
            <a:endParaRPr lang="pl-PL" sz="1800" dirty="0"/>
          </a:p>
          <a:p>
            <a:pPr lvl="1"/>
            <a:r>
              <a:rPr lang="en-US" sz="1600" dirty="0"/>
              <a:t>Temperature </a:t>
            </a:r>
            <a:endParaRPr lang="pl-PL" sz="1600" dirty="0"/>
          </a:p>
          <a:p>
            <a:pPr lvl="1"/>
            <a:r>
              <a:rPr lang="pl-PL" sz="1600" dirty="0"/>
              <a:t>H</a:t>
            </a:r>
            <a:r>
              <a:rPr lang="en-US" sz="1600" dirty="0" err="1"/>
              <a:t>umidity</a:t>
            </a:r>
            <a:r>
              <a:rPr lang="en-US" sz="1600" dirty="0"/>
              <a:t> </a:t>
            </a:r>
            <a:endParaRPr lang="pl-PL" sz="1600" dirty="0"/>
          </a:p>
          <a:p>
            <a:pPr lvl="1"/>
            <a:r>
              <a:rPr lang="pl-PL" sz="1600" dirty="0"/>
              <a:t>P</a:t>
            </a:r>
            <a:r>
              <a:rPr lang="en-US" sz="1600" dirty="0" err="1"/>
              <a:t>ressure</a:t>
            </a:r>
            <a:endParaRPr lang="pl-PL" sz="1600" dirty="0"/>
          </a:p>
          <a:p>
            <a:pPr lvl="1"/>
            <a:r>
              <a:rPr lang="pl-PL" sz="1600" dirty="0"/>
              <a:t>R</a:t>
            </a:r>
            <a:r>
              <a:rPr lang="en-US" sz="1600" dirty="0" err="1"/>
              <a:t>ainfall</a:t>
            </a:r>
            <a:endParaRPr lang="pl-PL" sz="1600" dirty="0"/>
          </a:p>
          <a:p>
            <a:pPr lvl="1"/>
            <a:r>
              <a:rPr lang="pl-PL" sz="1600" dirty="0"/>
              <a:t>Air quality ?</a:t>
            </a:r>
          </a:p>
          <a:p>
            <a:pPr lvl="1"/>
            <a:r>
              <a:rPr lang="pl-PL" sz="1600" dirty="0"/>
              <a:t>Air speed</a:t>
            </a:r>
          </a:p>
          <a:p>
            <a:r>
              <a:rPr lang="pl-PL" sz="1800" dirty="0"/>
              <a:t>Data</a:t>
            </a:r>
          </a:p>
          <a:p>
            <a:r>
              <a:rPr lang="pl-PL" sz="1800" dirty="0"/>
              <a:t>Visualization</a:t>
            </a:r>
          </a:p>
          <a:p>
            <a:r>
              <a:rPr lang="pl-PL" sz="1800" dirty="0"/>
              <a:t>Triggers</a:t>
            </a:r>
            <a:endParaRPr lang="en-US" sz="18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E228F3C-0F81-963F-A69C-D7B23D53C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9414" y="2523744"/>
            <a:ext cx="3153054" cy="287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0280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7DFD8-D262-D485-B1F2-817C5A0928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Łukasz Zmywaczyk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962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-Color-Block_Win32_jx_v9.potx" id="{B1D493D9-AF74-4AD6-8F0C-5B1308D7041B}" vid="{1AA99070-5A1F-42D2-9F5B-E7354C964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{F3AEB7F5-9E3C-4CAD-A692-B50768550F30}tf78438558_win32</Template>
  <TotalTime>189</TotalTime>
  <Words>342</Words>
  <Application>Microsoft Office PowerPoint</Application>
  <PresentationFormat>Widescreen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Sabon Next LT</vt:lpstr>
      <vt:lpstr>Office Theme</vt:lpstr>
      <vt:lpstr>IT SCHOOL @ SiS</vt:lpstr>
      <vt:lpstr>AGENDA</vt:lpstr>
      <vt:lpstr>INTRODUCTIONS</vt:lpstr>
      <vt:lpstr>PERSONAL Introduction</vt:lpstr>
      <vt:lpstr>COURSE Introduction</vt:lpstr>
      <vt:lpstr>hardware</vt:lpstr>
      <vt:lpstr>Anything that can go wrong with hardware will—at the worst possible moment.</vt:lpstr>
      <vt:lpstr>WHAT IS WHAT</vt:lpstr>
      <vt:lpstr>Raspberry pi</vt:lpstr>
      <vt:lpstr>Powerfull mini computer </vt:lpstr>
      <vt:lpstr>Example projects</vt:lpstr>
      <vt:lpstr>WEATHER STATION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SCHOOL </dc:title>
  <dc:subject/>
  <dc:creator>Lukasz Zmywaczyk</dc:creator>
  <cp:lastModifiedBy>Lukasz Zmywaczyk</cp:lastModifiedBy>
  <cp:revision>27</cp:revision>
  <dcterms:created xsi:type="dcterms:W3CDTF">2023-07-07T08:59:21Z</dcterms:created>
  <dcterms:modified xsi:type="dcterms:W3CDTF">2023-08-12T21:30:08Z</dcterms:modified>
</cp:coreProperties>
</file>